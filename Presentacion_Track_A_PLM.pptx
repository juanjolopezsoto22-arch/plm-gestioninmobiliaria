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0BC25-4F9D-BC41-8831-62D6113215DB}" v="2" dt="2026-07-05T21:54:13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ilde Jesús Varas Orellana" userId="e42bb9ad-6c59-4c6b-ae7f-459218647381" providerId="ADAL" clId="{FE97C33B-42F7-5750-AF76-0F4EDCF0171B}"/>
    <pc:docChg chg="modSld">
      <pc:chgData name="Matilde Jesús Varas Orellana" userId="e42bb9ad-6c59-4c6b-ae7f-459218647381" providerId="ADAL" clId="{FE97C33B-42F7-5750-AF76-0F4EDCF0171B}" dt="2026-07-05T21:54:22.974" v="38" actId="1076"/>
      <pc:docMkLst>
        <pc:docMk/>
      </pc:docMkLst>
      <pc:sldChg chg="modSp mod">
        <pc:chgData name="Matilde Jesús Varas Orellana" userId="e42bb9ad-6c59-4c6b-ae7f-459218647381" providerId="ADAL" clId="{FE97C33B-42F7-5750-AF76-0F4EDCF0171B}" dt="2026-07-05T21:52:21.415" v="7" actId="20577"/>
        <pc:sldMkLst>
          <pc:docMk/>
          <pc:sldMk cId="0" sldId="256"/>
        </pc:sldMkLst>
        <pc:spChg chg="mod">
          <ac:chgData name="Matilde Jesús Varas Orellana" userId="e42bb9ad-6c59-4c6b-ae7f-459218647381" providerId="ADAL" clId="{FE97C33B-42F7-5750-AF76-0F4EDCF0171B}" dt="2026-07-05T21:52:21.415" v="7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Matilde Jesús Varas Orellana" userId="e42bb9ad-6c59-4c6b-ae7f-459218647381" providerId="ADAL" clId="{FE97C33B-42F7-5750-AF76-0F4EDCF0171B}" dt="2026-07-05T21:52:32.547" v="17" actId="20577"/>
        <pc:sldMkLst>
          <pc:docMk/>
          <pc:sldMk cId="0" sldId="257"/>
        </pc:sldMkLst>
        <pc:spChg chg="mod">
          <ac:chgData name="Matilde Jesús Varas Orellana" userId="e42bb9ad-6c59-4c6b-ae7f-459218647381" providerId="ADAL" clId="{FE97C33B-42F7-5750-AF76-0F4EDCF0171B}" dt="2026-07-05T21:52:32.547" v="17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Matilde Jesús Varas Orellana" userId="e42bb9ad-6c59-4c6b-ae7f-459218647381" providerId="ADAL" clId="{FE97C33B-42F7-5750-AF76-0F4EDCF0171B}" dt="2026-07-05T21:52:43.817" v="25" actId="20577"/>
        <pc:sldMkLst>
          <pc:docMk/>
          <pc:sldMk cId="0" sldId="258"/>
        </pc:sldMkLst>
        <pc:spChg chg="mod">
          <ac:chgData name="Matilde Jesús Varas Orellana" userId="e42bb9ad-6c59-4c6b-ae7f-459218647381" providerId="ADAL" clId="{FE97C33B-42F7-5750-AF76-0F4EDCF0171B}" dt="2026-07-05T21:52:43.817" v="25" actId="20577"/>
          <ac:spMkLst>
            <pc:docMk/>
            <pc:sldMk cId="0" sldId="258"/>
            <ac:spMk id="24" creationId="{00000000-0000-0000-0000-000000000000}"/>
          </ac:spMkLst>
        </pc:spChg>
      </pc:sldChg>
      <pc:sldChg chg="addSp modSp mod">
        <pc:chgData name="Matilde Jesús Varas Orellana" userId="e42bb9ad-6c59-4c6b-ae7f-459218647381" providerId="ADAL" clId="{FE97C33B-42F7-5750-AF76-0F4EDCF0171B}" dt="2026-07-05T21:54:22.974" v="38" actId="1076"/>
        <pc:sldMkLst>
          <pc:docMk/>
          <pc:sldMk cId="0" sldId="265"/>
        </pc:sldMkLst>
        <pc:spChg chg="mod">
          <ac:chgData name="Matilde Jesús Varas Orellana" userId="e42bb9ad-6c59-4c6b-ae7f-459218647381" providerId="ADAL" clId="{FE97C33B-42F7-5750-AF76-0F4EDCF0171B}" dt="2026-07-05T21:53:16.459" v="29" actId="5793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tilde Jesús Varas Orellana" userId="e42bb9ad-6c59-4c6b-ae7f-459218647381" providerId="ADAL" clId="{FE97C33B-42F7-5750-AF76-0F4EDCF0171B}" dt="2026-07-05T21:53:25.313" v="30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tilde Jesús Varas Orellana" userId="e42bb9ad-6c59-4c6b-ae7f-459218647381" providerId="ADAL" clId="{FE97C33B-42F7-5750-AF76-0F4EDCF0171B}" dt="2026-07-05T21:53:29.541" v="31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Matilde Jesús Varas Orellana" userId="e42bb9ad-6c59-4c6b-ae7f-459218647381" providerId="ADAL" clId="{FE97C33B-42F7-5750-AF76-0F4EDCF0171B}" dt="2026-07-05T21:53:34.457" v="32" actId="1076"/>
          <ac:spMkLst>
            <pc:docMk/>
            <pc:sldMk cId="0" sldId="265"/>
            <ac:spMk id="8" creationId="{00000000-0000-0000-0000-000000000000}"/>
          </ac:spMkLst>
        </pc:spChg>
        <pc:picChg chg="add mod">
          <ac:chgData name="Matilde Jesús Varas Orellana" userId="e42bb9ad-6c59-4c6b-ae7f-459218647381" providerId="ADAL" clId="{FE97C33B-42F7-5750-AF76-0F4EDCF0171B}" dt="2026-07-05T21:54:22.974" v="38" actId="1076"/>
          <ac:picMkLst>
            <pc:docMk/>
            <pc:sldMk cId="0" sldId="265"/>
            <ac:picMk id="13" creationId="{E2BBF4DF-8140-64C3-A4A5-D79922E7E6D9}"/>
          </ac:picMkLst>
        </pc:picChg>
        <pc:picChg chg="add mod">
          <ac:chgData name="Matilde Jesús Varas Orellana" userId="e42bb9ad-6c59-4c6b-ae7f-459218647381" providerId="ADAL" clId="{FE97C33B-42F7-5750-AF76-0F4EDCF0171B}" dt="2026-07-05T21:54:19.957" v="37" actId="1076"/>
          <ac:picMkLst>
            <pc:docMk/>
            <pc:sldMk cId="0" sldId="265"/>
            <ac:picMk id="15" creationId="{5D207A46-0DAE-6957-9528-0C62E1765F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5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815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del agendamiento y la atención de leads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MVP de automatización + IA para PLM Gestión Inmobiliaria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Milagros Bauerle · Tomás Cisternas · Juan José López · Matilde Varas · Agustín Yanes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· Caso real · Cliente: PLM Gestión Inmobiliaria (Patricio López)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corretaje unipersonal, sin tiempo para responder a todos sus leads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440180" y="2103120"/>
            <a:ext cx="731520" cy="731520"/>
          </a:xfrm>
          <a:prstGeom prst="ellipse">
            <a:avLst/>
          </a:prstGeom>
          <a:solidFill>
            <a:srgbClr val="EAF2F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7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lenta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 8 horas en promedio para el primer contacto; hasta +24h cuando Patricio está en terreno.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4274820" y="2103120"/>
            <a:ext cx="731520" cy="731520"/>
          </a:xfrm>
          <a:prstGeom prst="ellipse">
            <a:avLst/>
          </a:prstGeom>
          <a:solidFill>
            <a:srgbClr val="EAF2F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385" y="22786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perdidos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de los correos se pierden o se revisan días después, en bandejas poco monitoreadas.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7109460" y="2103120"/>
            <a:ext cx="731520" cy="731520"/>
          </a:xfrm>
          <a:prstGeom prst="ellipse">
            <a:avLst/>
          </a:prstGeom>
          <a:solidFill>
            <a:srgbClr val="EAF2F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025" y="22786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sin control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de las </a:t>
            </a:r>
            <a:r>
              <a:rPr lang="en-US" sz="110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</a:t>
            </a: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agendadas no se concretan; no existía ningún recordatorio.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8288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5"/>
          <p:cNvSpPr/>
          <p:nvPr/>
        </p:nvSpPr>
        <p:spPr>
          <a:xfrm>
            <a:off x="9944100" y="2103120"/>
            <a:ext cx="731520" cy="731520"/>
          </a:xfrm>
          <a:prstGeom prst="ellipse">
            <a:avLst/>
          </a:prstGeom>
          <a:solidFill>
            <a:srgbClr val="EAF2F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665" y="22786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que se enfrían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terminan cerrando con otro corretaje por la demora en la respuesta.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 existe hace ~1 año, tiene 11 propiedades publicadas y antes de este proyecto no tenía sitio web propio: dependía 100% de portales inmobiliarios externos.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  ·  PLM Gestión Inmobiliaria  ·  Track 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workflow que centraliza, responde y agenda automáticamente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3225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(Outlook)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435952" y="2423160"/>
            <a:ext cx="370579" cy="274320"/>
          </a:xfrm>
          <a:prstGeom prst="rightArrow">
            <a:avLst/>
          </a:prstGeom>
          <a:solidFill>
            <a:srgbClr val="C9D6D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3322244" y="21031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700" y="232257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65044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2356" y="2423160"/>
            <a:ext cx="370579" cy="274320"/>
          </a:xfrm>
          <a:prstGeom prst="rightArrow">
            <a:avLst/>
          </a:prstGeom>
          <a:solidFill>
            <a:srgbClr val="C9D6D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5638648" y="210312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104" y="232257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81448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068760" y="2423160"/>
            <a:ext cx="370579" cy="274320"/>
          </a:xfrm>
          <a:prstGeom prst="rightArrow">
            <a:avLst/>
          </a:prstGeom>
          <a:solidFill>
            <a:srgbClr val="C9D6D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1"/>
          <p:cNvSpPr/>
          <p:nvPr/>
        </p:nvSpPr>
        <p:spPr>
          <a:xfrm>
            <a:off x="7955051" y="21031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507" y="23225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7851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385164" y="2423160"/>
            <a:ext cx="370579" cy="274320"/>
          </a:xfrm>
          <a:prstGeom prst="rightArrow">
            <a:avLst/>
          </a:prstGeom>
          <a:solidFill>
            <a:srgbClr val="C9D6D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4"/>
          <p:cNvSpPr/>
          <p:nvPr/>
        </p:nvSpPr>
        <p:spPr>
          <a:xfrm>
            <a:off x="10271455" y="21031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0911" y="232257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14255" y="3154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agenda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8640" y="393192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17"/>
          <p:cNvSpPr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automática en &lt;5 min  ·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la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Error Trigger avisa si algo falla  ·  chatbot con reglas + palabras clave en la web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2296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comercial y el cierre de la negociación siguen siendo 100% de Patricio: el sistema hace el primer contacto y el triaje, no la venta.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  ·  PLM Gestión Inmobiliaria  ·  Track A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46304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5" y="172638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346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de automatización en n8n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97280" y="434340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del lead → registro en Google Sheets → respuesta automática → Error Trigger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  ·  PLM Gestión Inmobiliaria  ·  Track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463040"/>
            <a:ext cx="1097280" cy="10972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5" y="172638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346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kern="0" spc="400" dirty="0">
                <a:solidFill>
                  <a:srgbClr val="E6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 web y chatbot de PLM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97280" y="434340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6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propiedades → formulario de contacto → chatbot con reglas y palabras clave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  ·  PLM Gestión Inmobiliaria  ·  Track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4 verticales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la evidencia técnica del proyecto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463040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0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336499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68680" y="3364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+ Capa 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840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(Outlook + web) con Error Trigger para manejo de fallas.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28416" y="182880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24281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27868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9856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648456" y="336499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/>
          <p:nvPr/>
        </p:nvSpPr>
        <p:spPr>
          <a:xfrm>
            <a:off x="3648456" y="3364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+ Capa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11296" y="3840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con reglas fijas + reconocimiento de palabras clave para inferir intención.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08192" y="182880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5"/>
          <p:cNvSpPr/>
          <p:nvPr/>
        </p:nvSpPr>
        <p:spPr>
          <a:xfrm>
            <a:off x="7022592" y="2103120"/>
            <a:ext cx="731520" cy="731520"/>
          </a:xfrm>
          <a:prstGeom prst="ellipse">
            <a:avLst/>
          </a:prstGeom>
          <a:solidFill>
            <a:srgbClr val="5B6B7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57" y="227868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9632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BBDD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428232" y="336499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18"/>
          <p:cNvSpPr/>
          <p:nvPr/>
        </p:nvSpPr>
        <p:spPr>
          <a:xfrm>
            <a:off x="6428232" y="3364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91072" y="3840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como base de datos operativa (hoja Leads). Deuda técnica documentada.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887968" y="182880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1"/>
          <p:cNvSpPr/>
          <p:nvPr/>
        </p:nvSpPr>
        <p:spPr>
          <a:xfrm>
            <a:off x="9802368" y="210312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7933" y="2278685"/>
            <a:ext cx="380390" cy="3803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79408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9208008" y="3364992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4"/>
          <p:cNvSpPr/>
          <p:nvPr/>
        </p:nvSpPr>
        <p:spPr>
          <a:xfrm>
            <a:off x="9208008" y="3364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+ Capa 2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070848" y="3840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en GitHub Pages, construido con IDE antigravity, documentado y repo público.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  ·  PLM Gestión Inmobiliaria  ·  Track A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Métricas: antes vs. después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estimados del piloto de 3 semanas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58952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Después (piloto)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primera respuesta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 hrs (hasta +24h)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 min en ~90% de los casos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Horas/sem de Patricio en triaje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hrs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 hrs (revisión del Sheet)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Correos perdidos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(todo centralizado en el Sheet)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 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No-show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~12% (con recordatorios automáticos)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 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Cierres adicionales atribuibles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arriendo adicional en el mes piloto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8288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686800" y="1920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-98%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778240" y="2697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primera respuesta</a:t>
            </a:r>
            <a:endParaRPr lang="en-US" sz="1100" dirty="0"/>
          </a:p>
        </p:txBody>
      </p:sp>
      <p:sp>
        <p:nvSpPr>
          <p:cNvPr id="4" name="Shape 5"/>
          <p:cNvSpPr/>
          <p:nvPr/>
        </p:nvSpPr>
        <p:spPr>
          <a:xfrm>
            <a:off x="8686800" y="34290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686800" y="3520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778240" y="4297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perdidos (antes ~20%)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 no llevaba registro histórico formal antes del proyecto; estas cifras son estimaciones autorizadas por el cliente y el equipo, no un registro auditado.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  ·  PLM Gestión Inmobiliaria  ·  Track 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cuantificado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beneficio neto mensual, construido desde abajo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3017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Ahorro tiempo Patricio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$312.000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$3.744.000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recuperado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 bruto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$862.000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$10.344.000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n8n + infra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-$25.000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 neto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$837.000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$10.044.000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8288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635240" y="19202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meses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635240" y="2651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de la inversión inicial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3383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6"/>
          <p:cNvSpPr/>
          <p:nvPr/>
        </p:nvSpPr>
        <p:spPr>
          <a:xfrm>
            <a:off x="7635240" y="34747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$2.550.000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635240" y="4160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 del equipo (170 hrs)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estimadas junto al cliente, dado que PLM no medía estos indicadores antes del proyecto (ver nota de transparencia en el informe).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  ·  PLM Gestión Inmobiliaria  ·  Track 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76992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423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WhatsApp Business, igual que Outlook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migrar de Google Sheets a una base de datos real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un modelo de lenguaje al chatbot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del cliente: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Patricio López · contacto@plm.cl · +56 9 9509 3892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Stack  ·  PLM Gestión Inmobiliaria  ·  Track 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BF4DF-8140-64C3-A4A5-D79922E7E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442" y="1506220"/>
            <a:ext cx="2819400" cy="9398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D207A46-0DAE-6957-9528-0C62E1765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790" y="2494280"/>
            <a:ext cx="5376705" cy="2453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767</Words>
  <Application>Microsoft Macintosh PowerPoint</Application>
  <PresentationFormat>Panorámica</PresentationFormat>
  <Paragraphs>136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PLM Gestión Inmobiliaria · Track A</dc:title>
  <dc:subject>PptxGenJS Presentation</dc:subject>
  <dc:creator>Sinergia Stack</dc:creator>
  <cp:lastModifiedBy>Matilde Jesús Varas Orellana</cp:lastModifiedBy>
  <cp:revision>3</cp:revision>
  <dcterms:created xsi:type="dcterms:W3CDTF">2026-07-05T19:30:25Z</dcterms:created>
  <dcterms:modified xsi:type="dcterms:W3CDTF">2026-07-05T21:54:31Z</dcterms:modified>
</cp:coreProperties>
</file>